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77864" y="1828866"/>
            <a:ext cx="9916972" cy="301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Analysez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,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Nettoyez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&amp;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racontez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des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Données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d’une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startup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camerounaise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à forte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croissance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: </a:t>
            </a:r>
            <a:r>
              <a:rPr lang="en-US" sz="4000" b="1" dirty="0" err="1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cas</a:t>
            </a:r>
            <a:r>
              <a:rPr lang="en-US" sz="40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de  NexaCommerce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477864" y="41148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Audit, nettoyage et visualisation des </a:t>
            </a:r>
            <a:r>
              <a:rPr lang="en-US" sz="17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données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opérationnelles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Transition vers une gestion pilotée par la donnée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4341775" y="5142132"/>
            <a:ext cx="1256109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4477864" y="5193864"/>
            <a:ext cx="9839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AVRIL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77864" y="6088259"/>
            <a:ext cx="4692361" cy="126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0070C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BABOGA BAGAGNA FRANCK LUDOVIC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02EF5CD-1D61-4779-BAB5-5A382047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4" y="2070379"/>
            <a:ext cx="3626881" cy="36268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B90EA00-ED8C-4201-B249-8AC2AE1F4328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9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630436" y="2987993"/>
            <a:ext cx="6571417" cy="3302556"/>
          </a:xfrm>
          <a:prstGeom prst="roundRect">
            <a:avLst>
              <a:gd name="adj" fmla="val 989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Contexte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7250" y="3795950"/>
            <a:ext cx="6117788" cy="177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NexaCommerce lance une transition stratégique vers une gestion pilotée par la donnée, en unifiant des sources historiquement dispersées.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99521" y="3214807"/>
            <a:ext cx="2989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Objectifs de la mission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795951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Mettre en place l'environnement de travail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Auditer et nettoyer les jeux de données clients et commandes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Traiter les incohérences critiques (doublons, erreurs de format, valeurs aberrantes)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Produire des KPIs fiables pour la direction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049CA-4F56-4C80-9609-D3E439E23E2E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832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Initialisation de l'Environnement</a:t>
            </a:r>
            <a:endParaRPr lang="en-US" sz="4450" b="1" dirty="0"/>
          </a:p>
        </p:txBody>
      </p:sp>
      <p:sp>
        <p:nvSpPr>
          <p:cNvPr id="4" name="Shape 1"/>
          <p:cNvSpPr/>
          <p:nvPr/>
        </p:nvSpPr>
        <p:spPr>
          <a:xfrm>
            <a:off x="793790" y="2666048"/>
            <a:ext cx="3664744" cy="275855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Git + Poetry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383280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Mise en place du versioning et de la gestion des dépendances Python pour un développement robuste et reproductible.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666048"/>
            <a:ext cx="3664863" cy="2758559"/>
          </a:xfrm>
          <a:prstGeom prst="roundRect">
            <a:avLst>
              <a:gd name="adj" fmla="val 7400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4912162" y="28928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data_loader.py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3383280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Classe Python dédiée au chargement robuste des fichiers CSV, avec gestion des erreurs potentielles à l'importation.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651421"/>
            <a:ext cx="7556421" cy="1669852"/>
          </a:xfrm>
          <a:prstGeom prst="roundRect">
            <a:avLst>
              <a:gd name="adj" fmla="val 12225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878235"/>
            <a:ext cx="31080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Architecture modulaire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0604" y="6368653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Ingénierie logicielle modulaire pour garantir une infrastructure data automatisée et évolutive.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C36E9-69A9-420A-8046-2E998DE980AE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0435" y="2213913"/>
            <a:ext cx="114694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Audit des Données — Anomalies Détectées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367</a:t>
            </a:r>
            <a:endParaRPr lang="en-US" sz="5850" b="1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50156" y="4660463"/>
            <a:ext cx="3245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Commandes Orphelines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Commandes sans utilisateur associé — soit ~2,94% du total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588</a:t>
            </a:r>
            <a:endParaRPr lang="en-US" sz="5850" b="1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730954" y="4660463"/>
            <a:ext cx="3168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Montants Négatifs/Nuls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235893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Valeurs de commandes invalides — soit ~4,70% du total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62866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276</a:t>
            </a:r>
            <a:endParaRPr lang="en-US" sz="5850" b="1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39626" y="46604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Doublons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77995" y="515088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Entrées dupliquées dans les données clients — soit ~2,21% du total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B44949-E3F7-405B-AA23-C5E4E1839240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95269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Chiffre d'Affaires — 12 Derniers Mois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Observations</a:t>
            </a:r>
            <a:endParaRPr lang="en-US" sz="2200" b="1" dirty="0">
              <a:solidFill>
                <a:schemeClr val="accent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 CA mensuel oscille entre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2,65M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et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5,17M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Les pics notables sont enregistrés </a:t>
            </a:r>
            <a:r>
              <a:rPr lang="en-US" sz="17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Janvier 2024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et </a:t>
            </a:r>
            <a:r>
              <a:rPr lang="en-US" sz="1750" b="1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Décembre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2025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Octobre 2024 représente le point le plus bas de la période.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FE9EDC-7EE1-4B46-9C81-3C6000AB8366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B147EDC-E040-4466-B49C-AE8FE4AFC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860" y="2566658"/>
            <a:ext cx="6039020" cy="465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2683"/>
            <a:ext cx="11004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Analyse Statistique — Temps de Livraison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93790" y="2766774"/>
            <a:ext cx="6244709" cy="3365183"/>
          </a:xfrm>
          <a:prstGeom prst="roundRect">
            <a:avLst>
              <a:gd name="adj" fmla="val 60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343" y="2918103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Ville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589490" y="2918103"/>
            <a:ext cx="10960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Moy. (min)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46828" y="2918103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Médiane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704165" y="2918103"/>
            <a:ext cx="10998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Écart-type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343" y="3938945"/>
            <a:ext cx="10998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Bafoussam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589490" y="3938945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51,6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3938945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36,0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704165" y="3938945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41,5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343" y="4959787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Douala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589490" y="4959787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64,1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46828" y="4959787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43,2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704165" y="4959787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53,6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343" y="5617726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Yaoundé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589490" y="5617726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78,8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146828" y="5617726"/>
            <a:ext cx="10960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53,1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704165" y="5617726"/>
            <a:ext cx="10998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65,1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99521" y="27384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Interprétation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599521" y="3319582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Bafoussam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: ville la plus rapide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Douala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: médiane basse mais forte dispersion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Yaoundé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: temps médians les plus élevés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599521" y="4822031"/>
            <a:ext cx="6244709" cy="1689616"/>
          </a:xfrm>
          <a:prstGeom prst="roundRect">
            <a:avLst>
              <a:gd name="adj" fmla="val 12082"/>
            </a:avLst>
          </a:prstGeom>
          <a:solidFill>
            <a:schemeClr val="accent2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166122"/>
            <a:ext cx="283488" cy="22681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336637" y="5105519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Asymétrie à droite : majorité des livraisons entre 20–60 min, avec une longue traîne dépassant 200–400 min.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B54A9C-53E2-45BC-9028-04017110508E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2331"/>
            <a:ext cx="118583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Théorème de Bayes &amp; Matrice de Corrélation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620356" y="4784885"/>
            <a:ext cx="6571417" cy="1530906"/>
          </a:xfrm>
          <a:prstGeom prst="roundRect">
            <a:avLst>
              <a:gd name="adj" fmla="val 7822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/>
          <p:nvPr/>
        </p:nvSpPr>
        <p:spPr>
          <a:xfrm>
            <a:off x="8011692" y="4784885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Application du théorème de Bayes 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011692" y="514242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P(Retard | Douala) = 0,218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011692" y="5576170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Soit ~21,8% de probabilité de retard le vendredi à Douala.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778085"/>
            <a:ext cx="49930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Matrice de Corrélation — Conclusions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359229"/>
            <a:ext cx="6244709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valeur d'une commande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n'influence pas le temps de livraison → les retards ne sont pas liés au prix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heure de commande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n'a pas de grande influence sur les retards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626655" y="6414734"/>
            <a:ext cx="6244709" cy="1326713"/>
          </a:xfrm>
          <a:prstGeom prst="roundRect">
            <a:avLst>
              <a:gd name="adj" fmla="val 15387"/>
            </a:avLst>
          </a:prstGeom>
          <a:solidFill>
            <a:srgbClr val="B5DA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434" y="6715777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11692" y="6594868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IQR = 50,25 | Bornes : -43,4 à 157,6 → </a:t>
            </a: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842 outliers détectés (~6,73%)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333AB8-A530-4E3F-BEFA-8B5F1FFADA32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197D7A2-C581-44CA-9DEB-F50269118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259722"/>
            <a:ext cx="6360400" cy="548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840"/>
            <a:ext cx="107998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Répartition &amp; Évolution des Commandes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12 500</a:t>
            </a:r>
            <a:endParaRPr lang="en-US" sz="585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565916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Commandes totales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580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Depuis janvier 2022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09359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6 422</a:t>
            </a:r>
            <a:endParaRPr lang="en-US" sz="585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229130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Douala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61580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51% des commandes — ville la plus active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54568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4 135</a:t>
            </a:r>
            <a:endParaRPr lang="en-US" sz="5850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565916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Yaoundé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06790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33% des commandes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54568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chemeClr val="accent2"/>
                </a:solidFill>
                <a:latin typeface="Instrument Sans Semi Bold" pitchFamily="34" charset="0"/>
              </a:rPr>
              <a:t>1943</a:t>
            </a:r>
            <a:endParaRPr lang="en-US" sz="5850" dirty="0">
              <a:solidFill>
                <a:schemeClr val="accent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229130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Bafoussam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06790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16% des commandes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6859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évolution croissante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du nombre de commandes est constatée au fil du temps, témoignant de la popularité grandissante du service.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139914-17ED-45C8-A136-65B686F6A17C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993" y="568762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Analyse des Retards &amp; Fidélité Clientèle</a:t>
            </a:r>
            <a:endParaRPr lang="en-US" sz="3950" b="1" dirty="0"/>
          </a:p>
        </p:txBody>
      </p:sp>
      <p:sp>
        <p:nvSpPr>
          <p:cNvPr id="4" name="Shape 1"/>
          <p:cNvSpPr/>
          <p:nvPr/>
        </p:nvSpPr>
        <p:spPr>
          <a:xfrm>
            <a:off x="706993" y="2101096"/>
            <a:ext cx="7730014" cy="1178600"/>
          </a:xfrm>
          <a:prstGeom prst="roundRect">
            <a:avLst>
              <a:gd name="adj" fmla="val 9310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4133" y="2101096"/>
            <a:ext cx="91440" cy="1178600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1000363" y="2325886"/>
            <a:ext cx="3086576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Taux de retard global : 21.01%</a:t>
            </a:r>
            <a:endParaRPr lang="en-US" sz="1950" dirty="0">
              <a:solidFill>
                <a:schemeClr val="accent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000363" y="2749391"/>
            <a:ext cx="72118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Yaoundé est la ville qui accuse le plus de retards.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993" y="3459599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4133" y="3459599"/>
            <a:ext cx="91440" cy="1484114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</p:sp>
      <p:sp>
        <p:nvSpPr>
          <p:cNvPr id="10" name="Text 7"/>
          <p:cNvSpPr/>
          <p:nvPr/>
        </p:nvSpPr>
        <p:spPr>
          <a:xfrm>
            <a:off x="1000363" y="3684389"/>
            <a:ext cx="314515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Pic de retard à 4h du matin</a:t>
            </a:r>
            <a:endParaRPr lang="en-US" sz="1950" dirty="0">
              <a:solidFill>
                <a:schemeClr val="accent2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0363" y="4107894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Probablement dû à un faible nombre de livreurs disponibles. Minimum de retard observé à 6h.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6993" y="5123617"/>
            <a:ext cx="7730014" cy="1178600"/>
          </a:xfrm>
          <a:prstGeom prst="roundRect">
            <a:avLst>
              <a:gd name="adj" fmla="val 9310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133" y="5123617"/>
            <a:ext cx="91440" cy="1178600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363" y="534840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Fidélité clientèle</a:t>
            </a:r>
            <a:endParaRPr lang="en-US" sz="1950" dirty="0">
              <a:solidFill>
                <a:schemeClr val="accent2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00363" y="5771912"/>
            <a:ext cx="72118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profils clients actifs et inactifs présentent des graphes quasi identiques.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06993" y="6482120"/>
            <a:ext cx="7730014" cy="1178600"/>
          </a:xfrm>
          <a:prstGeom prst="roundRect">
            <a:avLst>
              <a:gd name="adj" fmla="val 9310"/>
            </a:avLst>
          </a:prstGeom>
          <a:solidFill>
            <a:srgbClr val="FFFFFF"/>
          </a:solidFill>
          <a:ln w="22860">
            <a:solidFill>
              <a:srgbClr val="B4CC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4133" y="6482120"/>
            <a:ext cx="91440" cy="1178600"/>
          </a:xfrm>
          <a:prstGeom prst="roundRect">
            <a:avLst>
              <a:gd name="adj" fmla="val 198837"/>
            </a:avLst>
          </a:prstGeom>
          <a:solidFill>
            <a:srgbClr val="84C1FA"/>
          </a:solidFill>
          <a:ln/>
        </p:spPr>
      </p:sp>
      <p:sp>
        <p:nvSpPr>
          <p:cNvPr id="18" name="Text 15"/>
          <p:cNvSpPr/>
          <p:nvPr/>
        </p:nvSpPr>
        <p:spPr>
          <a:xfrm>
            <a:off x="1000363" y="670691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accent2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 par catégorie</a:t>
            </a:r>
            <a:endParaRPr lang="en-US" sz="1950" dirty="0">
              <a:solidFill>
                <a:schemeClr val="accent2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00363" y="7130415"/>
            <a:ext cx="72118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électronique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est le secteur qui génère le maximum de chiffre d'affaires.</a:t>
            </a:r>
            <a:endParaRPr lang="en-US" sz="15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3A1F5F-CBEF-4926-A17D-A46A93571A44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F9336DB-0E14-403B-9E58-2AB38054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400" y="434057"/>
            <a:ext cx="6040775" cy="2982155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E69F000-DC53-4A35-93A0-C16D8DC1AF4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566" y="3474277"/>
            <a:ext cx="5760720" cy="2272030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CB06AD6-0360-43EF-9305-8765F420D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7941" y="5595188"/>
            <a:ext cx="5553969" cy="21703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338"/>
            <a:ext cx="8537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&amp; Observations Clés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93790" y="2912745"/>
            <a:ext cx="6407944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139559"/>
            <a:ext cx="32608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📦</a:t>
            </a: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Volume &amp; Croissance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12 500 commandes depuis 2022, en évolution croissante. Douala domine avec 6 400 commandes.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912745"/>
            <a:ext cx="6408063" cy="1669852"/>
          </a:xfrm>
          <a:prstGeom prst="roundRect">
            <a:avLst>
              <a:gd name="adj" fmla="val 12225"/>
            </a:avLst>
          </a:prstGeom>
          <a:solidFill>
            <a:schemeClr val="accent2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139559"/>
            <a:ext cx="32249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⚠️ Anomalies détectées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367 commandes orphelines, 588 montants invalides, 276 doublons et 842 outliers de livraison.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809411"/>
            <a:ext cx="6407944" cy="1669852"/>
          </a:xfrm>
          <a:prstGeom prst="roundRect">
            <a:avLst>
              <a:gd name="adj" fmla="val 12225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036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🕓 Retards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0604" y="552664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Taux global de 21,01%. Pic entre 4h–5h du matin. Yaoundé est la ville la plus impactée.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4809411"/>
            <a:ext cx="6408063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5036225"/>
            <a:ext cx="2995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💡</a:t>
            </a: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Priorité stratégique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52664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L'électronique est la catégorie la plus rentable. Infrastructure data évolutive à consolider.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E1BA58-52B5-4918-AF5C-B52581C49F09}"/>
              </a:ext>
            </a:extLst>
          </p:cNvPr>
          <p:cNvSpPr/>
          <p:nvPr/>
        </p:nvSpPr>
        <p:spPr>
          <a:xfrm>
            <a:off x="12668596" y="7614458"/>
            <a:ext cx="1961804" cy="615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638</Words>
  <Application>Microsoft Office PowerPoint</Application>
  <PresentationFormat>Personnalisé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Instrument Sans Semi Bold</vt:lpstr>
      <vt:lpstr>Instrument Sans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pc</dc:creator>
  <cp:lastModifiedBy>franck</cp:lastModifiedBy>
  <cp:revision>11</cp:revision>
  <dcterms:created xsi:type="dcterms:W3CDTF">2026-04-17T01:20:32Z</dcterms:created>
  <dcterms:modified xsi:type="dcterms:W3CDTF">2026-07-26T00:13:17Z</dcterms:modified>
</cp:coreProperties>
</file>